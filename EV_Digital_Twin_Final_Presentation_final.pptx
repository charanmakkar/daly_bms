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0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83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0E9B8A">
              <a:alpha val="12000"/>
            </a:srgbClr>
          </a:solidFill>
          <a:ln w="10160">
            <a:solidFill>
              <a:srgbClr val="0E9B8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463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Digital Twin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5820" y="2072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805500-9E20-E35B-28EF-22EA7F4C1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0608" cy="11033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99A232-3BDA-5B8B-FE86-B8ACDA62DF27}"/>
              </a:ext>
            </a:extLst>
          </p:cNvPr>
          <p:cNvSpPr txBox="1"/>
          <p:nvPr/>
        </p:nvSpPr>
        <p:spPr>
          <a:xfrm>
            <a:off x="990600" y="3154680"/>
            <a:ext cx="647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Under the guidance of </a:t>
            </a: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Prof. Hrishikesh </a:t>
            </a: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Presented by:  Charanpreet </a:t>
            </a:r>
            <a:r>
              <a:rPr lang="en-GB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singh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– omio25s00012</a:t>
            </a: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	         B V M Praveen Kumar – omio25s00010</a:t>
            </a: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	         Sridharan R – omio25s00038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</a:rPr>
              <a:t>01  AREA OF WORK &amp;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 Battery Intelligence?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3474720"/>
          </a:xfrm>
          <a:prstGeom prst="roundRect">
            <a:avLst>
              <a:gd name="adj" fmla="val 57143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</a:rPr>
              <a:t>Area of 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86537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6537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8653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0"/>
                </a:solidFill>
              </a:rPr>
              <a:t>Internet of Things (IoT)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2121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Real-time sensor data acquisition from simulated EV hardware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59689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9689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596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0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Four ML models for battery state estimation and fault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32841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2841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3284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0"/>
                </a:solidFill>
              </a:rPr>
              <a:t>Data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Time-series pipeline: MQTT → InfluxDB →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05993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0"/>
                </a:solidFill>
              </a:rPr>
              <a:t>Embedded Systems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Arduino UNO R4 WiFi with C++ physics simulation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371600"/>
            <a:ext cx="64008" cy="3474720"/>
          </a:xfrm>
          <a:prstGeom prst="roundRect">
            <a:avLst>
              <a:gd name="adj" fmla="val 57143"/>
            </a:avLst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63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</a:rPr>
              <a:t>Motivation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00600" y="1828800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0E9B8A">
              <a:alpha val="20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2880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B8A"/>
                </a:solidFill>
              </a:rPr>
              <a:t>26M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182880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40"/>
                </a:solidFill>
              </a:rPr>
              <a:t>EVs on road globally by 2030 (IEA forecast). Battery failure is the #1 reliability risk.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560320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0E9B8A">
              <a:alpha val="20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6032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B8A"/>
                </a:solidFill>
              </a:rPr>
              <a:t>40%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256032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40"/>
                </a:solidFill>
              </a:rPr>
              <a:t>of EV range anxiety stems from inaccurate State of Charge estimation.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291840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0E9B8A">
              <a:alpha val="20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9184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B8A"/>
                </a:solidFill>
              </a:rPr>
              <a:t>£8K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23560" y="329184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40"/>
                </a:solidFill>
              </a:rPr>
              <a:t>average Li-ion battery replacement cost. Early degradation detection saves thousands.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4023360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0E9B8A">
              <a:alpha val="20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02336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B8A"/>
                </a:solidFill>
              </a:rPr>
              <a:t>70%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402336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40"/>
                </a:solidFill>
              </a:rPr>
              <a:t>of battery faults are detectable 10–60 minutes before failure with right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02 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Gaps in Current EV Battery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651760" cy="7315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27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SoC drift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Coulomb counting integrates current noise over time → significant drift after 30+ minutes driving. No correction mechanism.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8988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89888"/>
            <a:ext cx="2651760" cy="7315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27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847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Hidden degradation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13969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State of Health decline is invisible until battery fails. No predictive warning of remaining useful life.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8988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89888"/>
            <a:ext cx="2651760" cy="731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27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847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Reactive faults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13969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Thermal runaway, overcurrent and cell shorts are detected only after damage occurs — no proactive anomaly detection.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45536"/>
            <a:ext cx="2651760" cy="73152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826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Inaccurate range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89534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Fixed Wh/km assumption ignores temperature, elevation, driving style and real-time SoH — causes range anxiety.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145536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145536"/>
            <a:ext cx="2651760" cy="73152"/>
          </a:xfrm>
          <a:prstGeom prst="roundRect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2826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B8A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3756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No unified 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89534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Battery, motor, GPS data live in separate silos. No single system synthesises all signals into actionable intelligence.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3B9EDB">
              <a:alpha val="15000"/>
            </a:srgbClr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9EDB"/>
                </a:solidFill>
              </a:rPr>
              <a:t>03  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Digital Twin — 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AC8"/>
                </a:solidFill>
              </a:rPr>
              <a:t>A living virtual replica of an EV — continuously synchronised with sensor data — that predicts, diagnoses, and monitors in real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DC2626">
              <a:alpha val="12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7393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2626">
              <a:alpha val="4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SoC drift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847088"/>
            <a:ext cx="36576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73736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C"/>
                </a:solidFill>
              </a:rPr>
              <a:t>LSTM neural network corrects Coulomb counting using temporal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1401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4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Hidden degradation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487168"/>
            <a:ext cx="36576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37744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C"/>
                </a:solidFill>
              </a:rPr>
              <a:t>XGBoost predicts SoH % and projects calendar end-of-life 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4436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5409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540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Reactive faults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3127248"/>
            <a:ext cx="36576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0175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C"/>
                </a:solidFill>
              </a:rPr>
              <a:t>LSTM Autoencoder detects anomalies unsupervised — no fault labels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844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A56DB">
              <a:alpha val="12000"/>
            </a:srgbClr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9417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94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Inaccurate range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3767328"/>
            <a:ext cx="36576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365760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C"/>
                </a:solidFill>
              </a:rPr>
              <a:t>Dual-mode XGBoost: static at t=0 blending to live dynamic after 5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E9B8A">
              <a:alpha val="12000"/>
            </a:srgbClr>
          </a:solidFill>
          <a:ln w="10160">
            <a:solidFill>
              <a:srgbClr val="0E9B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33425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E9B8A">
              <a:alpha val="40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342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unified view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31920" y="4407408"/>
            <a:ext cx="36576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429768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C"/>
                </a:solidFill>
              </a:rPr>
              <a:t>9-page Streamlit dashboard + InfluxDB + HiveMQ Cloud MQTT pipeline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04  SUMMARY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— What Was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658368"/>
          </a:xfrm>
          <a:prstGeom prst="roundRect">
            <a:avLst>
              <a:gd name="adj" fmla="val 50000"/>
            </a:avLst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0E9B8A">
              <a:alpha val="15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9B8A"/>
                </a:solidFill>
              </a:rPr>
              <a:t>[HW]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Hardware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171907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Arduino UNO R4 WiFi · C++ BatteryModel · MotorModel · GPSModel · Fault injection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12264"/>
            <a:ext cx="73152" cy="65836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276856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76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[DB]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89888" y="21854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Data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245973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HiveMQ Cloud MQTT (TLS) · InfluxDB time-series · 50-pt batched writes · session tags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52928"/>
            <a:ext cx="73152" cy="6583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175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[ML]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89888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ML engine (4 models)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320040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LSTM SoC  ·  XGBoost SoH/RUL  ·  LSTM Autoencoder  ·  XGBoost Range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935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93592"/>
            <a:ext cx="73152" cy="6583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758184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5818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[UI]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89888" y="3666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89888" y="3941064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Streamlit 9-page app · Plotly live gauges · GPS map · Anomaly feed · Auto-refresh 1s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3425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334256"/>
            <a:ext cx="73152" cy="6583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49884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988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[QA]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89888" y="4407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Test suite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89888" y="4681728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60 tests across 8 suites · Caught 6 real bugs · Exit code 0/1 for CI/CD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04  SUMMARY OF WORK — ML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— Algorithm Choices and Rationale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1664208"/>
          </a:xfrm>
          <a:prstGeom prst="roundRect">
            <a:avLst>
              <a:gd name="adj" fmla="val 57143"/>
            </a:avLst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9B8A">
              <a:alpha val="20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B8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SoC Estimation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175564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E9B8A">
              <a:alpha val="12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556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9B8A"/>
                </a:solidFill>
              </a:rPr>
              <a:t>LSTM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Why: Sequential 30s window captures temporal voltage/current patterns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3134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How: Input(30×7) → LSTM(64) → LSTM(32) → Dense(1, Sigmoid)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70662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B8A"/>
                </a:solidFill>
              </a:rPr>
              <a:t>MAE &lt; 2%  ·  RMSE &lt; 3%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35331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353312"/>
            <a:ext cx="64008" cy="1664208"/>
          </a:xfrm>
          <a:prstGeom prst="roundRect">
            <a:avLst>
              <a:gd name="adj" fmla="val 57143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463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A56DB">
              <a:alpha val="2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SoH / RUL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4960" y="175564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556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XGBoost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029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Why: Per-cycle tabular features — gradient boosting outperforms LSTM on small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3134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How: 15 cycle features → XGBoost regressor + degree-2 RUL polynomial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70662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</a:rPr>
              <a:t>R² &gt; 0.95  ·  RUL MAE &lt; 50 cycles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82112"/>
            <a:ext cx="64008" cy="1664208"/>
          </a:xfrm>
          <a:prstGeom prst="roundRect">
            <a:avLst>
              <a:gd name="adj" fmla="val 5714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2918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51560" y="358444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3584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LSTM Autoencoder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858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Why: Only 6 fault types — unsupervised generalises to unseen faults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1422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How: Encoder → 16-dim bottleneck → Decoder  ·  Threshold: 99th pct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53542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Detection &gt; 95%  ·  False positive &lt; 1%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18211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182112"/>
            <a:ext cx="64008" cy="1664208"/>
          </a:xfrm>
          <a:prstGeom prst="roundRect">
            <a:avLst>
              <a:gd name="adj" fmla="val 571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2918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Range Prediction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94960" y="358444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584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XGBoost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3858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Why: 18 features including elevation grade and real-time consumption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41422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How: Static (t=0) → trust ramp → Dynamic (t&gt;300s) — RangeReconciler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92040" y="453542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MAE &lt; 8 km  ·  R² &gt; 0.90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05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and System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011680" cy="475488"/>
          </a:xfrm>
          <a:prstGeom prst="rect">
            <a:avLst/>
          </a:prstGeom>
          <a:solidFill>
            <a:srgbClr val="0D1F3C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5331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353312"/>
            <a:ext cx="1645920" cy="475488"/>
          </a:xfrm>
          <a:prstGeom prst="rect">
            <a:avLst/>
          </a:prstGeom>
          <a:solidFill>
            <a:srgbClr val="0D1F3C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353312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Algorithm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353312"/>
            <a:ext cx="1554480" cy="475488"/>
          </a:xfrm>
          <a:prstGeom prst="rect">
            <a:avLst/>
          </a:prstGeom>
          <a:solidFill>
            <a:srgbClr val="0D1F3C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35331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353312"/>
            <a:ext cx="1737360" cy="475488"/>
          </a:xfrm>
          <a:prstGeom prst="rect">
            <a:avLst/>
          </a:prstGeom>
          <a:solidFill>
            <a:srgbClr val="0D1F3C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135331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Achieved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353312"/>
            <a:ext cx="822960" cy="475488"/>
          </a:xfrm>
          <a:prstGeom prst="rect">
            <a:avLst/>
          </a:prstGeom>
          <a:solidFill>
            <a:srgbClr val="0D1F3C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1353312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755648"/>
            <a:ext cx="201168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5564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40"/>
                </a:solidFill>
              </a:rPr>
              <a:t>SoC Estimation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1755648"/>
            <a:ext cx="164592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755648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LSTM (30s window)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755648"/>
            <a:ext cx="155448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1755648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MAE &lt; 2%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1755648"/>
            <a:ext cx="173736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755648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1.2–1.8% MAE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1755648"/>
            <a:ext cx="822960" cy="475488"/>
          </a:xfrm>
          <a:prstGeom prst="rect">
            <a:avLst/>
          </a:prstGeom>
          <a:solidFill>
            <a:srgbClr val="059669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755648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157984"/>
            <a:ext cx="2011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157984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40"/>
                </a:solidFill>
              </a:rPr>
              <a:t>SoH Prediction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157984"/>
            <a:ext cx="1645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2157984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XGBoost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2157984"/>
            <a:ext cx="1554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2157984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R² &gt; 0.95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2157984"/>
            <a:ext cx="1737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157984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0.97–0.99 R²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2157984"/>
            <a:ext cx="822960" cy="475488"/>
          </a:xfrm>
          <a:prstGeom prst="rect">
            <a:avLst/>
          </a:prstGeom>
          <a:solidFill>
            <a:srgbClr val="059669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8352" y="2157984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560320"/>
            <a:ext cx="201168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560320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40"/>
                </a:solidFill>
              </a:rPr>
              <a:t>RUL Estimation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2560320"/>
            <a:ext cx="164592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2560320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Polynomial trend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2560320"/>
            <a:ext cx="155448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6512" y="2560320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MAE &lt; 50 cycles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2560320"/>
            <a:ext cx="173736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2560320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20–60 cycle MAE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2560320"/>
            <a:ext cx="822960" cy="475488"/>
          </a:xfrm>
          <a:prstGeom prst="rect">
            <a:avLst/>
          </a:prstGeom>
          <a:solidFill>
            <a:srgbClr val="059669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560320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962656"/>
            <a:ext cx="2011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2962656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40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2962656"/>
            <a:ext cx="1645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0592" y="2962656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LSTM Autoencoder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2962656"/>
            <a:ext cx="1554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296265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Detection &gt; 90%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2962656"/>
            <a:ext cx="1737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2962656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&gt; 95% thermal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15200" y="2962656"/>
            <a:ext cx="822960" cy="475488"/>
          </a:xfrm>
          <a:prstGeom prst="rect">
            <a:avLst/>
          </a:prstGeom>
          <a:solidFill>
            <a:srgbClr val="059669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88352" y="2962656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3364992"/>
            <a:ext cx="201168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336499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40"/>
                </a:solidFill>
              </a:rPr>
              <a:t>Range Prediction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377440" y="3364992"/>
            <a:ext cx="164592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3364992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XGBoost dual-mode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23360" y="3364992"/>
            <a:ext cx="155448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6512" y="336499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MAE &lt; 8 km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77840" y="3364992"/>
            <a:ext cx="1737360" cy="475488"/>
          </a:xfrm>
          <a:prstGeom prst="rect">
            <a:avLst/>
          </a:prstGeom>
          <a:solidFill>
            <a:srgbClr val="EFF5FB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336499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4–8 km MAE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15200" y="3364992"/>
            <a:ext cx="822960" cy="475488"/>
          </a:xfrm>
          <a:prstGeom prst="rect">
            <a:avLst/>
          </a:prstGeom>
          <a:solidFill>
            <a:srgbClr val="059669"/>
          </a:solidFill>
          <a:ln w="3810">
            <a:solidFill>
              <a:srgbClr val="D0DF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88352" y="3364992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059669">
              <a:alpha val="12000"/>
            </a:srgbClr>
          </a:solidFill>
          <a:ln w="1016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38912" y="3931920"/>
            <a:ext cx="1810512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</a:rPr>
              <a:t>60/60</a:t>
            </a:r>
            <a:endParaRPr lang="en-US" sz="3200" dirty="0"/>
          </a:p>
        </p:txBody>
      </p:sp>
      <p:sp>
        <p:nvSpPr>
          <p:cNvPr id="67" name="Text 65"/>
          <p:cNvSpPr/>
          <p:nvPr/>
        </p:nvSpPr>
        <p:spPr>
          <a:xfrm>
            <a:off x="438912" y="4471416"/>
            <a:ext cx="181051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Tests passing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87168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1A56DB">
              <a:alpha val="12000"/>
            </a:srgbClr>
          </a:solidFill>
          <a:ln w="10160">
            <a:solidFill>
              <a:srgbClr val="1A56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560320" y="3931920"/>
            <a:ext cx="1810512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DB"/>
                </a:solidFill>
              </a:rPr>
              <a:t>1 Hz</a:t>
            </a:r>
            <a:endParaRPr lang="en-US" sz="3200" dirty="0"/>
          </a:p>
        </p:txBody>
      </p:sp>
      <p:sp>
        <p:nvSpPr>
          <p:cNvPr id="70" name="Text 68"/>
          <p:cNvSpPr/>
          <p:nvPr/>
        </p:nvSpPr>
        <p:spPr>
          <a:xfrm>
            <a:off x="2560320" y="4471416"/>
            <a:ext cx="181051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Publish rate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08576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681728" y="3931920"/>
            <a:ext cx="1810512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</a:rPr>
              <a:t>9</a:t>
            </a:r>
            <a:endParaRPr lang="en-US" sz="3200" dirty="0"/>
          </a:p>
        </p:txBody>
      </p:sp>
      <p:sp>
        <p:nvSpPr>
          <p:cNvPr id="73" name="Text 71"/>
          <p:cNvSpPr/>
          <p:nvPr/>
        </p:nvSpPr>
        <p:spPr>
          <a:xfrm>
            <a:off x="4681728" y="4471416"/>
            <a:ext cx="181051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Dashboard pages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729984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DC2626">
              <a:alpha val="12000"/>
            </a:srgbClr>
          </a:solidFill>
          <a:ln w="1016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803136" y="3931920"/>
            <a:ext cx="1810512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6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6803136" y="4471416"/>
            <a:ext cx="181051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Bugs caught early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3B9EDB">
              <a:alpha val="15000"/>
            </a:srgbClr>
          </a:solidFill>
          <a:ln w="12700">
            <a:solidFill>
              <a:srgbClr val="3B9E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9EDB"/>
                </a:solidFill>
              </a:rPr>
              <a:t>06  IMPORTANCE OF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Results Matter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DC2626">
              <a:alpha val="10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402336" cy="329184"/>
          </a:xfrm>
          <a:prstGeom prst="roundRect">
            <a:avLst>
              <a:gd name="adj" fmla="val 16667"/>
            </a:avLst>
          </a:prstGeom>
          <a:solidFill>
            <a:srgbClr val="DC2626">
              <a:alpha val="4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 — Thermal runaway detected 20s before threshold breach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0EC"/>
                </a:solidFill>
              </a:rPr>
              <a:t>The Autoencoder flags anomalies before any hard threshold is crossed. In a real vehicle, 20 seconds is enough time to reduce power and alert the driver — preventing a dangerous thermal event.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1A56DB">
              <a:alpha val="10000"/>
            </a:srgbClr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508760"/>
            <a:ext cx="402336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0876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 — LSTM corrects SoC drift that compounds over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901952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0EC"/>
                </a:solidFill>
              </a:rPr>
              <a:t>Coulomb counting error accumulates every second. The LSTM correction of 1.2–1.8% MAE remains constant regardless of trip duration — a fundamental improvement over traditional BMS.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059669">
              <a:alpha val="1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402336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Economics — SoH trend projects battery replacement 18+ months ahead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639312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0EC"/>
                </a:solidFill>
              </a:rPr>
              <a:t>At current degradation rates, the system predicts EOL date with 540+ days warning. This enables planned replacement at £8K vs emergency replacement — and prevents warranty disputes.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D97706">
              <a:alpha val="10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246120"/>
            <a:ext cx="402336" cy="329184"/>
          </a:xfrm>
          <a:prstGeom prst="roundRect">
            <a:avLst>
              <a:gd name="adj" fmla="val 16667"/>
            </a:avLst>
          </a:prstGeom>
          <a:solidFill>
            <a:srgbClr val="D97706">
              <a:alpha val="4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4612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24612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Range confidence — Dual-mode estimate reduces anxiety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39312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0EC"/>
                </a:solidFill>
              </a:rPr>
              <a:t>Static estimate covers trip start; dynamic estimate improves to &lt;5 km MAE after 5 minutes. Honest confidence levels (low/medium/high) are communicated to the driver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0E9B8A">
              <a:alpha val="15000"/>
            </a:srgbClr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9B8A"/>
                </a:solidFill>
              </a:rPr>
              <a:t>07 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Three Horizons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3657600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8132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Horizon 1  ·  1–3 months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190195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019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0195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Physical replica: 4S 18650 Li-ion pack + INA219 sensor + NTC thermistors (£40–60)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6334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3347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Train SoH model on NASA Li-ion Battery Aging Dataset (B0005–B0018)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36499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6499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OBD-II dongle integration for real EV data via python-obd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409651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0965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965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InfluxDB Cloud free-tier persistence for multi-session SoH tracking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1353312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353312"/>
            <a:ext cx="64008" cy="3657600"/>
          </a:xfrm>
          <a:prstGeom prst="roundRect">
            <a:avLst>
              <a:gd name="adj" fmla="val 57143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10712" y="148132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14813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</a:rPr>
              <a:t>Horizon 2  ·  3–6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0712" y="190195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19019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190195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Four agentic AI agents (Diagnostic · Fault Response · Charging Optimizer · Maintenance Planner)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26334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263347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86200" y="263347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Physical BLDC motor + flywheel drivetrain replica (£80–120)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336499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36499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336499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Grafana alerting rules linked to anomaly score threshold breaches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10712" y="409651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40965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86200" y="40965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REST API layer so any frontend can consume predictions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1353312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353312"/>
            <a:ext cx="64008" cy="3657600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1072" y="148132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14813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Horizon 3  ·  6–12 months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91072" y="190195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19019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190195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Federated learning across multiple vehicle digital twins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91072" y="26334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63347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66560" y="263347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Multi-cell balancing simulation with individual cell-level SoC tracking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336499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36499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66560" y="336499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Route-aware range prediction using Google Maps elevation 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09651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40965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66560" y="40965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40"/>
                </a:solidFill>
              </a:rPr>
              <a:t>Transfer learning: adapt NASA-trained SoH model to new cell chemistry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08  CHALLENGES &amp;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What Could Not Be Done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60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3657600"/>
          </a:xfrm>
          <a:prstGeom prst="roundRect">
            <a:avLst>
              <a:gd name="adj" fmla="val 571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Challenges Faced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858768" cy="694944"/>
          </a:xfrm>
          <a:prstGeom prst="roundRect">
            <a:avLst>
              <a:gd name="adj" fmla="val 7895"/>
            </a:avLst>
          </a:prstGeom>
          <a:solidFill>
            <a:srgbClr val="D97706">
              <a:alpha val="8000"/>
            </a:srgbClr>
          </a:solidFill>
          <a:ln w="3810">
            <a:solidFill>
              <a:srgbClr val="E8C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653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HiveMQ TLS connection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Two MQTT clients created — one with TLS (unused), one without (active). Silent failure, no error message. Fixed by consolidating into single TLS client.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3858768" cy="694944"/>
          </a:xfrm>
          <a:prstGeom prst="roundRect">
            <a:avLst>
              <a:gd name="adj" fmla="val 7895"/>
            </a:avLst>
          </a:prstGeom>
          <a:solidFill>
            <a:srgbClr val="D97706">
              <a:alpha val="8000"/>
            </a:srgbClr>
          </a:solidFill>
          <a:ln w="3810">
            <a:solidFill>
              <a:srgbClr val="E8C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334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SoC y-scale mismatch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LSTM trained with targets in % (0-100) but inference expected (0-1). Caught by test suite — would have caused 100× wrong predictions silently.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3858768" cy="694944"/>
          </a:xfrm>
          <a:prstGeom prst="roundRect">
            <a:avLst>
              <a:gd name="adj" fmla="val 7895"/>
            </a:avLst>
          </a:prstGeom>
          <a:solidFill>
            <a:srgbClr val="D97706">
              <a:alpha val="8000"/>
            </a:srgbClr>
          </a:solidFill>
          <a:ln w="3810">
            <a:solidFill>
              <a:srgbClr val="E8C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015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NASA dataset absent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SoH model requires NASA Li-ion .mat files for training. Training pipeline built but cannot execute without the dataset.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133088"/>
            <a:ext cx="3858768" cy="694944"/>
          </a:xfrm>
          <a:prstGeom prst="roundRect">
            <a:avLst>
              <a:gd name="adj" fmla="val 7895"/>
            </a:avLst>
          </a:prstGeom>
          <a:solidFill>
            <a:srgbClr val="D97706">
              <a:alpha val="8000"/>
            </a:srgbClr>
          </a:solidFill>
          <a:ln w="3810">
            <a:solidFill>
              <a:srgbClr val="E8C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96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Motor field naming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mechanical_power_kw vs mech_power_kw caused silent dashboard gaps. Only discovered through systematic end-to-end testing.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353312"/>
            <a:ext cx="4069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E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353312"/>
            <a:ext cx="64008" cy="3657600"/>
          </a:xfrm>
          <a:prstGeom prst="roundRect">
            <a:avLst>
              <a:gd name="adj" fmla="val 5714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4475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What Could Not Be Done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828800"/>
            <a:ext cx="3767328" cy="694944"/>
          </a:xfrm>
          <a:prstGeom prst="roundRect">
            <a:avLst>
              <a:gd name="adj" fmla="val 7895"/>
            </a:avLst>
          </a:prstGeom>
          <a:solidFill>
            <a:srgbClr val="DC2626">
              <a:alpha val="8000"/>
            </a:srgbClr>
          </a:solidFill>
          <a:ln w="3810">
            <a:solidFill>
              <a:srgbClr val="F0A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8653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Physical hardware build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0848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Time constraints prevented sourcing 18650 cells and INA219 sensor. All data is from the Python physics simulator, not real electrochemistry.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596896"/>
            <a:ext cx="3767328" cy="694944"/>
          </a:xfrm>
          <a:prstGeom prst="roundRect">
            <a:avLst>
              <a:gd name="adj" fmla="val 7895"/>
            </a:avLst>
          </a:prstGeom>
          <a:solidFill>
            <a:srgbClr val="DC2626">
              <a:alpha val="8000"/>
            </a:srgbClr>
          </a:solidFill>
          <a:ln w="3810">
            <a:solidFill>
              <a:srgbClr val="F0A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334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SoH model 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8529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NASA dataset not downloaded. Model architecture is complete; training and evaluation require the .mat files.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364992"/>
            <a:ext cx="3767328" cy="694944"/>
          </a:xfrm>
          <a:prstGeom prst="roundRect">
            <a:avLst>
              <a:gd name="adj" fmla="val 7895"/>
            </a:avLst>
          </a:prstGeom>
          <a:solidFill>
            <a:srgbClr val="DC2626">
              <a:alpha val="8000"/>
            </a:srgbClr>
          </a:solidFill>
          <a:ln w="3810">
            <a:solidFill>
              <a:srgbClr val="F0A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4015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Agentic AI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6210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Four Claude-powered agents (Diagnostic, Fault Response, Charging, Maintenance) were designed and coded but not integrated into the live pipeline.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3767328" cy="694944"/>
          </a:xfrm>
          <a:prstGeom prst="roundRect">
            <a:avLst>
              <a:gd name="adj" fmla="val 7895"/>
            </a:avLst>
          </a:prstGeom>
          <a:solidFill>
            <a:srgbClr val="DC2626">
              <a:alpha val="8000"/>
            </a:srgbClr>
          </a:solidFill>
          <a:ln w="3810">
            <a:solidFill>
              <a:srgbClr val="F0A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1696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</a:rPr>
              <a:t>Grafana live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389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InfluxDB subscriber and Grafana JSON were built but Grafana was not connected to the live HiveMQ data stream for a full end-to-end demo.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E9B8A">
              <a:alpha val="10000"/>
            </a:srgbClr>
          </a:solidFill>
          <a:ln w="10160">
            <a:solidFill>
              <a:srgbClr val="0E9B8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1370</Words>
  <Application>Microsoft Office PowerPoint</Application>
  <PresentationFormat>On-screen Show (16:9)</PresentationFormat>
  <Paragraphs>224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Digital Twin — Final Project Evaluation</dc:title>
  <dc:subject>PptxGenJS Presentation</dc:subject>
  <dc:creator>PptxGenJS</dc:creator>
  <cp:lastModifiedBy>Praveen Badveti</cp:lastModifiedBy>
  <cp:revision>2</cp:revision>
  <dcterms:created xsi:type="dcterms:W3CDTF">2026-05-19T12:39:26Z</dcterms:created>
  <dcterms:modified xsi:type="dcterms:W3CDTF">2026-05-19T12:57:59Z</dcterms:modified>
</cp:coreProperties>
</file>